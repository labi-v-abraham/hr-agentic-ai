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19456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4754880"/>
            <a:ext cx="3657600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31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HR 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AEC0"/>
                </a:solidFill>
                <a:latin typeface="Calibri"/>
              </a:defRPr>
            </a:pPr>
            <a:r>
              <a:t>An Intelligent Multi-Agent HR Assistant</a:t>
            </a:r>
            <a:br/>
            <a:r>
              <a:t>powered by RAG, LangGraph &amp; Gemini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92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Calibri"/>
              </a:defRPr>
            </a:pPr>
            <a:r>
              <a:t>Presented by: Labi V Abraham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49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Mentor Presentation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What we'll cover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411480" cy="32004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Project Overview &amp; 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87168"/>
            <a:ext cx="411480" cy="32004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4871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Tech Stack &amp;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71216"/>
            <a:ext cx="411480" cy="32004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87121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AI/ML - RAG, Agentic AI &amp; LangGraph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55264"/>
            <a:ext cx="411480" cy="32004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552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Key Features &amp; Specialist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39312"/>
            <a:ext cx="411480" cy="32004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6393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Database Design &amp; Backend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411480" cy="32004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023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Authentication &amp; Role-Based Access (RBAC)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103120"/>
            <a:ext cx="411480" cy="32004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Knowledge Base Management &amp; Document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2487168"/>
            <a:ext cx="411480" cy="32004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871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UI/UX - Streamlit Frontend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871216"/>
            <a:ext cx="411480" cy="32004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7121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Challenges Faced &amp; Solutions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255264"/>
            <a:ext cx="411480" cy="32004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552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Key Learnings &amp; Skill Improvements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639312"/>
            <a:ext cx="411480" cy="32004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6393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4023360"/>
            <a:ext cx="411480" cy="32004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023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Live Demo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What is HR Agentic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EC0"/>
                </a:solidFill>
                <a:latin typeface="Calibri"/>
              </a:defRPr>
            </a:pPr>
            <a:r>
              <a:t>An AI-powered HR Assistant that autonomously handles recruitment, policy queries,</a:t>
            </a:r>
            <a:br/>
            <a:r>
              <a:t>leave management, and onboarding using multiple specialized AI agents.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029200" cy="3200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F87171"/>
                </a:solidFill>
                <a:latin typeface="Calibri"/>
              </a:defRPr>
            </a:pPr>
            <a:r>
              <a:t>Problem Statement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Manual resume screening is time-consuming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HR policy queries require human intervention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No centralized, intelligent HR assistant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Leave management is fragmented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Onboarding tracking is paper-based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029200" cy="3200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Our Solution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Multi-agent AI system with autonomous routing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RAG-powered policy Q&amp;A from company docs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Automated resume evaluation with scorecards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Natural language leave apply/approve workflow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Onboarding checklist tracking per candidate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Tools &amp; frameworks powering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🧠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8BDF8"/>
                </a:solidFill>
              </a:defRPr>
            </a:pPr>
            <a:r>
              <a:t>Google Gemini 2.5 Flash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Primary LLM for all</a:t>
            </a:r>
            <a:br/>
            <a:r>
              <a:t>agent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19456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🔗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818CF8"/>
                </a:solidFill>
              </a:defRPr>
            </a:pPr>
            <a:r>
              <a:t>LangChain + LangGraph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Agent orchestration,</a:t>
            </a:r>
            <a:br/>
            <a:r>
              <a:t>state machines, routing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📊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4D399"/>
                </a:solidFill>
              </a:defRPr>
            </a:pPr>
            <a:r>
              <a:t>ChromaDB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Vector database for</a:t>
            </a:r>
            <a:br/>
            <a:r>
              <a:t>RAG embeddings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219456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🖥️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FB923C"/>
                </a:solidFill>
              </a:defRPr>
            </a:pPr>
            <a:r>
              <a:t>Streamlit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Interactive web UI</a:t>
            </a:r>
            <a:br/>
            <a:r>
              <a:t>with chat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🗄️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8BDF8"/>
                </a:solidFill>
              </a:defRPr>
            </a:pPr>
            <a:r>
              <a:t>Supabase (PostgreSQL)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Auth, profiles, evals,</a:t>
            </a:r>
            <a:br/>
            <a:r>
              <a:t>leave, chat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38912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📐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818CF8"/>
                </a:solidFill>
              </a:defRPr>
            </a:pPr>
            <a:r>
              <a:t>Pydantic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Structured LLM output</a:t>
            </a:r>
            <a:br/>
            <a:r>
              <a:t>&amp; data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8912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🔍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4D399"/>
                </a:solidFill>
              </a:defRPr>
            </a:pPr>
            <a:r>
              <a:t>Gemini Embedding-2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gemini-embedding-2</a:t>
            </a:r>
            <a:br/>
            <a:r>
              <a:t>for document vectors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438912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📄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FB923C"/>
                </a:solidFill>
              </a:defRPr>
            </a:pPr>
            <a:r>
              <a:t>PyPDF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PDF parsing for</a:t>
            </a:r>
            <a:br/>
            <a:r>
              <a:t>resumes &amp; handbooks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High-level overview of the application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698480" cy="6858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54864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42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Streamlit UI  |  Chat Interface  |  Knowledge Base Manager  |  Admin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698480" cy="6858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54864" cy="685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Calibri"/>
              </a:defRPr>
            </a:pPr>
            <a:r>
              <a:t>AUTHENTICATION &amp; RBAC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649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Supabase Auth  |  Session Manager  |  Authorization Service  |  Role-Based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698480" cy="6858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54864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AGENTIC AI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87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LangGraph State Machine  |  Supervisor Agent  |  Intent Router  |  6 Specialist 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10698480" cy="6858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663440"/>
            <a:ext cx="54864" cy="685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Calibri"/>
              </a:defRPr>
            </a:pPr>
            <a:r>
              <a:t>RAG &amp; EMBEDDING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10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ChromaDB Vector Store  |  Gemini Embeddings  |  Similarity Search  |  Confidence Scoring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10698480" cy="6858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486400"/>
            <a:ext cx="54864" cy="6858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53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Calibri"/>
              </a:defRPr>
            </a:pPr>
            <a:r>
              <a:t>DATA &amp; STORAGE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338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Supabase PostgreSQL  |  Supabase Storage (Buckets)  |  Chat History  |  Evaluations  |  Leave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834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6576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4805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  <a:latin typeface="Calibri"/>
              </a:defRPr>
            </a:pPr>
            <a:r>
              <a:t>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Agentic AI Workflow -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The core multi-agent state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1920240" cy="16459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</a:p>
          <a:p>
            <a:pPr algn="ctr">
              <a:spcBef>
                <a:spcPts val="400"/>
              </a:spcBef>
              <a:defRPr sz="1500" b="1">
                <a:solidFill>
                  <a:srgbClr val="38BDF8"/>
                </a:solidFill>
              </a:defRPr>
            </a:pPr>
            <a:r>
              <a:t>User Query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User sends question</a:t>
            </a:r>
            <a:br/>
            <a:r>
              <a:t>via chat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2194560"/>
            <a:ext cx="1920240" cy="16459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</a:p>
          <a:p>
            <a:pPr algn="ctr">
              <a:spcBef>
                <a:spcPts val="400"/>
              </a:spcBef>
              <a:defRPr sz="1500" b="1">
                <a:solidFill>
                  <a:srgbClr val="818CF8"/>
                </a:solidFill>
              </a:defRPr>
            </a:pPr>
            <a:r>
              <a:t>Supervisor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Detects intent using</a:t>
            </a:r>
            <a:br/>
            <a:r>
              <a:t>structured LLM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94560"/>
            <a:ext cx="1920240" cy="16459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</a:p>
          <a:p>
            <a:pPr algn="ctr">
              <a:spcBef>
                <a:spcPts val="400"/>
              </a:spcBef>
              <a:defRPr sz="1500" b="1">
                <a:solidFill>
                  <a:srgbClr val="34D399"/>
                </a:solidFill>
              </a:defRPr>
            </a:pPr>
            <a:r>
              <a:t>Intent Router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Routes to correct</a:t>
            </a:r>
            <a:br/>
            <a:r>
              <a:t>specialist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194560"/>
            <a:ext cx="1920240" cy="16459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</a:p>
          <a:p>
            <a:pPr algn="ctr">
              <a:spcBef>
                <a:spcPts val="400"/>
              </a:spcBef>
              <a:defRPr sz="1500" b="1">
                <a:solidFill>
                  <a:srgbClr val="FB923C"/>
                </a:solidFill>
              </a:defRPr>
            </a:pPr>
            <a:r>
              <a:t>Specialist Agent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Executes domain task</a:t>
            </a:r>
            <a:br/>
            <a:r>
              <a:t>(RAG/Eval/etc.)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2194560"/>
            <a:ext cx="1920240" cy="16459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</a:p>
          <a:p>
            <a:pPr algn="ctr">
              <a:spcBef>
                <a:spcPts val="400"/>
              </a:spcBef>
              <a:defRPr sz="1500" b="1">
                <a:solidFill>
                  <a:srgbClr val="FACC15"/>
                </a:solidFill>
              </a:defRPr>
            </a:pPr>
            <a:r>
              <a:t>Final Response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Formats &amp; returns</a:t>
            </a:r>
            <a:br/>
            <a:r>
              <a:t>result to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0AEC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0AEC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0AEC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0AEC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Supported Intents: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2560320" cy="5486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>
                <a:solidFill>
                  <a:srgbClr val="38BDF8"/>
                </a:solidFill>
              </a:defRPr>
            </a:pPr>
            <a:r>
              <a:t>"resume" -&gt; Resume 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4846320"/>
            <a:ext cx="2560320" cy="5486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>
                <a:solidFill>
                  <a:srgbClr val="818CF8"/>
                </a:solidFill>
              </a:defRPr>
            </a:pPr>
            <a:r>
              <a:t>"recruitment" -&gt; Resume + Interview Email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846320"/>
            <a:ext cx="2560320" cy="5486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>
                <a:solidFill>
                  <a:srgbClr val="34D399"/>
                </a:solidFill>
              </a:defRPr>
            </a:pPr>
            <a:r>
              <a:t>"policy" -&gt; HR Policy (RAG)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4846320"/>
            <a:ext cx="2560320" cy="5486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>
                <a:solidFill>
                  <a:srgbClr val="FB923C"/>
                </a:solidFill>
              </a:defRPr>
            </a:pPr>
            <a:r>
              <a:t>"email" -&gt; Email 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77840"/>
            <a:ext cx="2560320" cy="5486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>
                <a:solidFill>
                  <a:srgbClr val="FACC15"/>
                </a:solidFill>
              </a:defRPr>
            </a:pPr>
            <a:r>
              <a:t>"onboarding" -&gt; Onboarding Tracker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5577840"/>
            <a:ext cx="2560320" cy="5486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>
                <a:solidFill>
                  <a:srgbClr val="F87171"/>
                </a:solidFill>
              </a:defRPr>
            </a:pPr>
            <a:r>
              <a:t>"leave" -&gt; Leave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577840"/>
            <a:ext cx="2560320" cy="5486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>
                <a:solidFill>
                  <a:srgbClr val="A0AEC0"/>
                </a:solidFill>
              </a:defRPr>
            </a:pPr>
            <a:r>
              <a:t>"general" -&gt; General Chat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RAG Pipeline - Retrieval-Augmented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How the system grounds LLM responses in company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Document Ingestion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1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8BDF8"/>
                </a:solidFill>
              </a:defRPr>
            </a:pPr>
            <a:r>
              <a:t>Upload PDF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Employee handbook or</a:t>
            </a:r>
            <a:br/>
            <a:r>
              <a:t>role-specific docs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46888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2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8BDF8"/>
                </a:solidFill>
              </a:defRPr>
            </a:pPr>
            <a:r>
              <a:t>Parse &amp; Chunk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PyPDFLoader + LangChain</a:t>
            </a:r>
            <a:br/>
            <a:r>
              <a:t>text splitters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46888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3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8BDF8"/>
                </a:solidFill>
              </a:defRPr>
            </a:pPr>
            <a:r>
              <a:t>Embed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Gemini Embedding-2</a:t>
            </a:r>
            <a:br/>
            <a:r>
              <a:t>model generates vectors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46888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4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8BDF8"/>
                </a:solidFill>
              </a:defRPr>
            </a:pPr>
            <a:r>
              <a:t>Store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ChromaDB persistent</a:t>
            </a:r>
            <a:br/>
            <a:r>
              <a:t>vector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0AEC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0AEC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0AEC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Query-Time Retrieval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1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4D399"/>
                </a:solidFill>
              </a:defRPr>
            </a:pPr>
            <a:r>
              <a:t>User Query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Natural language</a:t>
            </a:r>
            <a:br/>
            <a:r>
              <a:t>HR question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466344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2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4D399"/>
                </a:solidFill>
              </a:defRPr>
            </a:pPr>
            <a:r>
              <a:t>Vector Search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MMR similarity search</a:t>
            </a:r>
            <a:br/>
            <a:r>
              <a:t>with KB ID filtering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66344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3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4D399"/>
                </a:solidFill>
              </a:defRPr>
            </a:pPr>
            <a:r>
              <a:t>Confidence Score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Average similarity</a:t>
            </a:r>
            <a:br/>
            <a:r>
              <a:t>score -&gt; badge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466344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4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4D399"/>
                </a:solidFill>
              </a:defRPr>
            </a:pPr>
            <a:r>
              <a:t>LLM + Context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Gemini answers using</a:t>
            </a:r>
            <a:br/>
            <a:r>
              <a:t>retrieved chunks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5212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0AEC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5212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0AEC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5212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0AEC0"/>
                </a:solidFill>
                <a:latin typeface="Calibri"/>
              </a:defRPr>
            </a:pPr>
            <a:r>
              <a:t>-&gt;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Specialist Agents -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Six autonomous AI agents handling different HR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Candidate Evaluator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Evaluates resumes against job role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Computes match % using structured output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Generates scorecard (3-6 criteria)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Recommends: Selected / Rejected / Hold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818CF8"/>
                </a:solidFill>
                <a:latin typeface="Calibri"/>
              </a:defRPr>
            </a:pPr>
            <a:r>
              <a:t>Email Generator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Drafts interview invitation emails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Professional formatting with placeholders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Triggered when match &gt;= 80%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Automated by Supervisor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0116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HR Policy Specialist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Answers policy questions via RAG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Queries ChromaDB vector store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Shows confidence badge &amp; sources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Detects knowledge gaps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FB923C"/>
                </a:solidFill>
                <a:latin typeface="Calibri"/>
              </a:defRPr>
            </a:pPr>
            <a:r>
              <a:t>Onboarding Specialist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Starts onboarding for selected candidates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Creates 5-task checklist in Supabase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Marks tasks done via natural language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Shows onboarding status per candidate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5720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FACC15"/>
                </a:solidFill>
                <a:latin typeface="Calibri"/>
              </a:defRPr>
            </a:pPr>
            <a:r>
              <a:t>Leave Specialist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Apply for leave via natural language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LLM extracts dates &amp; leave type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Managers can approve/reject leaves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View pending &amp; personal leave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5720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A0AEC0"/>
                </a:solidFill>
                <a:latin typeface="Calibri"/>
              </a:defRPr>
            </a:pPr>
            <a:r>
              <a:t>General Assistant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Handles small talk &amp; greetings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Answers non-HR general queries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Fallback for unclassified intents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Direct LLM conversation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Supervisor Agent &amp; Decision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How the system makes autonomous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Supervisor Agent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Entry point of the LangGraph workflow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Uses structured LLM output (IntentClassification)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Pydantic model enforces valid intent values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Fallback keyword-based intent detection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Supported: resume, recruitment, email,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  policy, onboarding, leave, general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Intent routing via conditional edges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in StateGraph - NOT if/else in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029200" cy="20116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Supervisor Decision (Post-Evaluation)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Runs AFTER candidate evaluation completes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If match_percentage &gt;= 80% -&gt; Interview Email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If match_percentage &lt; 80% -&gt; Final Response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Fully autonomous - no human intervention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38912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818CF8"/>
                </a:solidFill>
                <a:latin typeface="Calibri"/>
              </a:defRPr>
            </a:pPr>
            <a:r>
              <a:t>Structured LLM Output (Pydantic)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CandidateEvaluation: match %, recommendation,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  analysis, scorecard, suggested questions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LeaveExtraction: leave_type, dates, reason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IntentClassification: validated intent string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Database Design - Supabase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Tables, storage, and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DB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8BDF8"/>
                </a:solidFill>
              </a:defRPr>
            </a:pPr>
            <a:r>
              <a:t>profiles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User profiles with RBAC roles</a:t>
            </a:r>
            <a:br/>
            <a:r>
              <a:t>(HR_ADMIN, HR_MANAGER, EMPLOYEE)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21031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DB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818CF8"/>
                </a:solidFill>
              </a:defRPr>
            </a:pPr>
            <a:r>
              <a:t>chat_history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Persisted chat messages</a:t>
            </a:r>
            <a:br/>
            <a:r>
              <a:t>user_id, session_id, question, response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DB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4D399"/>
                </a:solidFill>
              </a:defRPr>
            </a:pPr>
            <a:r>
              <a:t>evaluations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Resume evaluation results</a:t>
            </a:r>
            <a:br/>
            <a:r>
              <a:t>candidate_name, score,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21031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DB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FB923C"/>
                </a:solidFill>
              </a:defRPr>
            </a:pPr>
            <a:r>
              <a:t>knowledge_bases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Knowledge base categories</a:t>
            </a:r>
            <a:br/>
            <a:r>
              <a:t>(General HR, role-specific KBs)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891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DB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FACC15"/>
                </a:solidFill>
              </a:defRPr>
            </a:pPr>
            <a:r>
              <a:t>documents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Document metadata, versions,</a:t>
            </a:r>
            <a:br/>
            <a:r>
              <a:t>storage paths, processing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43891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DB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F87171"/>
                </a:solidFill>
              </a:defRPr>
            </a:pPr>
            <a:r>
              <a:t>onboarding_checklists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Per-candidate task tracking</a:t>
            </a:r>
            <a:br/>
            <a:r>
              <a:t>task_name, status (PENDING/DONE)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891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DB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8BDF8"/>
                </a:solidFill>
              </a:defRPr>
            </a:pPr>
            <a:r>
              <a:t>leave_requests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Leave applications with</a:t>
            </a:r>
            <a:br/>
            <a:r>
              <a:t>status, type, dates, approver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43891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DB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818CF8"/>
                </a:solidFill>
              </a:defRPr>
            </a:pPr>
            <a:r>
              <a:t>Supabase Storage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File bucket (hr_documents)</a:t>
            </a:r>
            <a:br/>
            <a:r>
              <a:t>for PDF binary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Authentication &amp;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Role-based access control with Supabase Auth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HR_ADMIN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Full system access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Manage users &amp; roles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Upload documents to any KB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View all chat logs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Approve/reject leave requests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Access admin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10312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818CF8"/>
                </a:solidFill>
                <a:latin typeface="Calibri"/>
              </a:defRPr>
            </a:pPr>
            <a:r>
              <a:t>HR_MANAGER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Upload documents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Review resumes &amp; evaluate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Approve/reject leave requests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Access knowledge base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Cannot manage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10312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EMPLOYEE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Chat with HR assistant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Ask policy questions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Apply for leave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View own leave status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Limited access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Auth Stack: Supabase Auth -&gt; SessionManager -&gt; AuthorizationService -&gt; Page-level require_auth() / require_roles()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Knowledge Base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Document pipeline with versioning &amp; reindexing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Upload Pipeline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1. Ensure storage bucket exists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2. Detect if document already exists (versioning)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3. Insert metadata -&gt; status: PROCESSING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4. Upload binary to Supabase Storage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5. Extract text -&gt; chunk -&gt; embed -&gt; ChromaDB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6. Update status -&gt; PROCESSED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7. If version 2+: retire old doc, purge old chunks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Features: Soft delete, reindex, version tracking,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deterministic chunk IDs (doc_id + chunk_index)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029200" cy="2103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Document Versioning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Detects existing doc by name + KB + is_latest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New upload gets version_number = prev + 1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parent_document_id links to previous version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Old version's ChromaDB chunks are purged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480560"/>
            <a:ext cx="5029200" cy="173736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FB923C"/>
                </a:solidFill>
                <a:latin typeface="Calibri"/>
              </a:defRPr>
            </a:pPr>
            <a:r>
              <a:t>Fail-Open Design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Version detection errors are non-fatal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Upload proceeds even if versioning fails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Storage rollback on upload failure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Graceful error handling at every step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Resume Evaluation - Detailed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Structured AI-powered candidate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Evaluation Process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Upload resume PDF -&gt; Extract text via PyPDF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Query role-specific knowledge base via RAG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LLM evaluates resume against role requirements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Uses with_structured_output(CandidateEvaluation)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Results saved to Supabase evaluations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818CF8"/>
                </a:solidFill>
                <a:latin typeface="Calibri"/>
              </a:defRPr>
            </a:pPr>
            <a:r>
              <a:t>Structured Output Schema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candidate_name: Extracted from resume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match_percentage: 0-100 overall score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recommendation: Selected / Rejected / Hold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analysis: 2-4 sentence executive summary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scorecard: 3-6 role-specific criteria with scores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suggested_questions: Up to 5 interview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RAG-Enhanced Evaluation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KB chunks retrieved using similarity_search_with_score (k=10) filtered by knowledge_base_id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Confidence badge: High (&gt;=0.75) | Medium (&gt;=0.5) | Low (&lt;0.5)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Knowledge gap detection: flags when no relevant chunks found or avg score &lt; 0.4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Source files listed for transparency - full RAG citation chain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Leave Management &amp; Onboarding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End-to-end employee lifecycle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389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FACC15"/>
                </a:solidFill>
                <a:latin typeface="Calibri"/>
              </a:defRPr>
            </a:pPr>
            <a:r>
              <a:t>Leave Management System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APPLY: Natural language -&gt; LLM extracts dates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  "Apply for sick leave from 2025-03-10 to 2025-03-12"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  Uses LeaveExtraction Pydantic model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STATUS: View own leave requests with icons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  PENDING | APPROVED | REJECTED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PENDING LIST: Managers see all pending requests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  Joined with profiles for employee names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APPROVE/REJECT: Manager decision via chat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  "Approve leave for John Doe"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  RBAC enforced - employees cannot approve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029200" cy="4389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FB923C"/>
                </a:solidFill>
                <a:latin typeface="Calibri"/>
              </a:defRPr>
            </a:pPr>
            <a:r>
              <a:t>Onboarding Checklist Tracker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START: Creates 5 default checklist tasks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  IT Equipment | HR Paperwork | Welcome Meeting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  Role Training | Team Introduction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  Only for Selected candidates (validated)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  Stores in onboarding_checklists table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UPDATE: Mark tasks done via natural language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  "Mark IT equipment done for Jane Doe"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  Fuzzy matching on task names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STATUS: View checklist with status icons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  "Onboarding status for Jane Doe"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Frontend - Streamlit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Interactive multi-page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103120"/>
            <a:ext cx="2743200" cy="41148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Chat Page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WhatsApp-style chat bubbles (custom CSS)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Resume PDF upload with text extraction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Role-specific knowledge base selection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Evaluation dashboard with scorecard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Execution log showing agent thought process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Chat history persistence via Supabase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103120"/>
            <a:ext cx="2743200" cy="41148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818CF8"/>
                </a:solidFill>
                <a:latin typeface="Calibri"/>
              </a:defRPr>
            </a:pPr>
            <a:r>
              <a:t>Knowledge Base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Upload documents to specific KBs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View document list with status badges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Reindex / delete documents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Version history tracking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File size &amp; upload date display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103120"/>
            <a:ext cx="2743200" cy="41148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Admin Dashboard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User management (create/edit/delete)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Role assignment (Admin/Manager/Employee)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System-wide settings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Accessible only to HR_ADMIN 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2103120"/>
            <a:ext cx="2743200" cy="41148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FB923C"/>
                </a:solidFill>
                <a:latin typeface="Calibri"/>
              </a:defRPr>
            </a:pPr>
            <a:r>
              <a:t>Login Page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Supabase Auth integration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Email + password authentication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Session persistence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Auto-redirect on auth state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Code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Clean separation of concerns with modular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Courier New"/>
              </a:defRPr>
            </a:pPr>
            <a:r>
              <a:t>app/</a:t>
            </a:r>
            <a:br/>
            <a:r>
              <a:t> agents/</a:t>
            </a:r>
            <a:br/>
            <a:r>
              <a:t>   graph/</a:t>
            </a:r>
            <a:br/>
            <a:r>
              <a:t>     workflow.py    &lt;- LangGraph state machine</a:t>
            </a:r>
            <a:br/>
            <a:r>
              <a:t>     node.py        &lt;- 6 specialist agent functions</a:t>
            </a:r>
            <a:br/>
            <a:r>
              <a:t>     router.py      &lt;- Intent classification</a:t>
            </a:r>
            <a:br/>
            <a:r>
              <a:t>     state.py       &lt;- AgentState TypedDict</a:t>
            </a:r>
            <a:br/>
            <a:r>
              <a:t>   rag/</a:t>
            </a:r>
            <a:br/>
            <a:r>
              <a:t>     retriever.py   &lt;- ChromaDB retriever + embeddings</a:t>
            </a:r>
            <a:br/>
            <a:r>
              <a:t>     vectorstore.py &lt;- Vector store builder</a:t>
            </a:r>
            <a:br/>
            <a:r>
              <a:t>     build_vectorstore.py &lt;- KB adapter</a:t>
            </a:r>
            <a:br/>
            <a:r>
              <a:t>     loader.py      &lt;- PDF document loader</a:t>
            </a:r>
            <a:br/>
            <a:r>
              <a:t> auth/</a:t>
            </a:r>
            <a:br/>
            <a:r>
              <a:t>   auth_service.py    &lt;- Supabase auth wrapper</a:t>
            </a:r>
            <a:br/>
            <a:r>
              <a:t>   authorization.py   &lt;- RBAC middleware</a:t>
            </a:r>
            <a:br/>
            <a:r>
              <a:t>   session_manager.py &lt;- Session state handler</a:t>
            </a:r>
            <a:br/>
            <a:r>
              <a:t> database/</a:t>
            </a:r>
            <a:br/>
            <a:r>
              <a:t>   supabase_service.py &lt;- Singleton DB client</a:t>
            </a:r>
            <a:br/>
            <a:r>
              <a:t>   chat_repository.py  &lt;- Chat history CRUD</a:t>
            </a:r>
            <a:br/>
            <a:r>
              <a:t>   profile_repository.py</a:t>
            </a:r>
            <a:br/>
            <a:r>
              <a:t> models/</a:t>
            </a:r>
            <a:br/>
            <a:r>
              <a:t>   models.py          &lt;- Pydantic: CandidateEval, Leave</a:t>
            </a:r>
            <a:br/>
            <a:r>
              <a:t>   user.py            &lt;- Role enum, Profile model</a:t>
            </a:r>
            <a:br/>
            <a:r>
              <a:t> pages/</a:t>
            </a:r>
            <a:br/>
            <a:r>
              <a:t>   chat.py, login.py, admin.py</a:t>
            </a:r>
            <a:br/>
            <a:r>
              <a:t>   knowledge_base.py, knowledge_base_types.py</a:t>
            </a:r>
            <a:br/>
            <a:r>
              <a:t> services/</a:t>
            </a:r>
            <a:br/>
            <a:r>
              <a:t>   knowledge_base.py  &lt;- Full KB pipeline service</a:t>
            </a:r>
            <a:br/>
            <a:r>
              <a:t> utils/</a:t>
            </a:r>
            <a:br/>
            <a:r>
              <a:t>   config.py, dependencies.py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Challenges Faced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Real-world problems encountered during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2011680"/>
            <a:ext cx="5669280" cy="457200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20299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4846320" cy="5029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LLM returning inconsistent output formats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2560320"/>
            <a:ext cx="5669280" cy="5029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606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Pydantic with_structured_output() enforces strict schema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27248"/>
            <a:ext cx="4846320" cy="502920"/>
          </a:xfrm>
          <a:prstGeom prst="roundRect">
            <a:avLst>
              <a:gd name="adj" fmla="val 6000"/>
            </a:avLst>
          </a:prstGeom>
          <a:solidFill>
            <a:srgbClr val="1A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729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ChromaDB duplicate chunks on re-upload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3127248"/>
            <a:ext cx="5669280" cy="502920"/>
          </a:xfrm>
          <a:prstGeom prst="roundRect">
            <a:avLst>
              <a:gd name="adj" fmla="val 6000"/>
            </a:avLst>
          </a:prstGeom>
          <a:solidFill>
            <a:srgbClr val="1A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31729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Deterministic IDs (doc_id + chunk_index) + upsert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94176"/>
            <a:ext cx="4846320" cy="5029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3989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RAG returning irrelevant cross-KB results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3694176"/>
            <a:ext cx="5669280" cy="5029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73989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Knowledge base ID filtering on similarity 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61104"/>
            <a:ext cx="4846320" cy="502920"/>
          </a:xfrm>
          <a:prstGeom prst="roundRect">
            <a:avLst>
              <a:gd name="adj" fmla="val 6000"/>
            </a:avLst>
          </a:prstGeom>
          <a:solidFill>
            <a:srgbClr val="1A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30682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Leave date extraction from natural language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4261104"/>
            <a:ext cx="5669280" cy="502920"/>
          </a:xfrm>
          <a:prstGeom prst="roundRect">
            <a:avLst>
              <a:gd name="adj" fmla="val 6000"/>
            </a:avLst>
          </a:prstGeom>
          <a:solidFill>
            <a:srgbClr val="1A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430682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Dedicated LeaveExtraction Pydantic model with LLM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28032"/>
            <a:ext cx="4846320" cy="5029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8737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Supabase RLS blocking backend 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4828032"/>
            <a:ext cx="5669280" cy="5029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48737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Dual client pattern: anon_key + service_role_key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94960"/>
            <a:ext cx="4846320" cy="502920"/>
          </a:xfrm>
          <a:prstGeom prst="roundRect">
            <a:avLst>
              <a:gd name="adj" fmla="val 6000"/>
            </a:avLst>
          </a:prstGeom>
          <a:solidFill>
            <a:srgbClr val="1A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Document versioning without breaking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5394960"/>
            <a:ext cx="5669280" cy="502920"/>
          </a:xfrm>
          <a:prstGeom prst="roundRect">
            <a:avLst>
              <a:gd name="adj" fmla="val 6000"/>
            </a:avLst>
          </a:prstGeom>
          <a:solidFill>
            <a:srgbClr val="1A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0" y="5440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Fail-open design - versioning errors are non-fatal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961888"/>
            <a:ext cx="4846320" cy="5029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0076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Session management across Streamlit reruns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5961888"/>
            <a:ext cx="5669280" cy="5029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0" y="60076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Custom SessionManager with st.session_state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Learnings &amp; Skill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What I gained through this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657600" cy="4389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AI / ML / LLM Skills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Agentic AI architecture design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LangGraph state machines &amp; workflows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RAG pipeline: embed -&gt; store -&gt; retrieve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Prompt engineering for structured output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Pydantic schemas for LLM response control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Vector databases (ChromaDB) concepts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Embedding models (Gemini, HuggingFace)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Multi-agent orchestration patterns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Confidence scoring &amp; knowledge gap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474720" cy="4389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818CF8"/>
                </a:solidFill>
                <a:latin typeface="Calibri"/>
              </a:defRPr>
            </a:pPr>
            <a:r>
              <a:t>Backend &amp; Architecture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Clean architecture with separation of concerns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Dependency injection pattern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Singleton pattern (SupabaseService)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Repository pattern for data access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Service layer design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Role-based access control (RBAC)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Document versioning strategies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Fail-open vs fail-closed design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Error handling best practices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011680"/>
            <a:ext cx="3474720" cy="4389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Frontend &amp; Full Stack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Streamlit multi-page app architecture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Session state management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Custom CSS for chat UI styling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File upload &amp; PDF processing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Supabase Auth integration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Real-time UI feedback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Supabase Storage (buckets)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PostgreSQL via Supabase client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Environment configuration (.env)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Tools &amp; Frameworks - Detailed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Deep dive into AI/RAG/Agentic tools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LangChain</a:t>
            </a:r>
          </a:p>
          <a:p>
            <a:pPr>
              <a:spcBef>
                <a:spcPts val="800"/>
              </a:spcBef>
              <a:defRPr sz="1100">
                <a:solidFill>
                  <a:srgbClr val="A0AEC0"/>
                </a:solidFill>
              </a:defRPr>
            </a:pPr>
            <a:r>
              <a:t>Core framework for LLM app development.</a:t>
            </a:r>
            <a:br/>
            <a:r>
              <a:t>Used for: document loaders, text splitters,</a:t>
            </a:r>
            <a:br/>
            <a:r>
              <a:t>embeddings, structured output, chains.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56616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80" y="210312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818CF8"/>
                </a:solidFill>
              </a:defRPr>
            </a:pPr>
            <a:r>
              <a:t>LangGraph</a:t>
            </a:r>
          </a:p>
          <a:p>
            <a:pPr>
              <a:spcBef>
                <a:spcPts val="800"/>
              </a:spcBef>
              <a:defRPr sz="1100">
                <a:solidFill>
                  <a:srgbClr val="A0AEC0"/>
                </a:solidFill>
              </a:defRPr>
            </a:pPr>
            <a:r>
              <a:t>State machine framework for multi-agent</a:t>
            </a:r>
            <a:br/>
            <a:r>
              <a:t>workflows. Used for: StateGraph, conditional</a:t>
            </a:r>
            <a:br/>
            <a:r>
              <a:t>edges, node routing, orchestration.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103120"/>
            <a:ext cx="3566160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210312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Google Gemini 2.5 Flash</a:t>
            </a:r>
          </a:p>
          <a:p>
            <a:pPr>
              <a:spcBef>
                <a:spcPts val="800"/>
              </a:spcBef>
              <a:defRPr sz="1100">
                <a:solidFill>
                  <a:srgbClr val="A0AEC0"/>
                </a:solidFill>
              </a:defRPr>
            </a:pPr>
            <a:r>
              <a:t>Primary LLM powering all agent intelligence.</a:t>
            </a:r>
            <a:br/>
            <a:r>
              <a:t>Used via: ChatGoogleGenerativeAI.</a:t>
            </a:r>
            <a:br/>
            <a:r>
              <a:t>Fast inference, structured output.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103120"/>
            <a:ext cx="356616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FB923C"/>
                </a:solidFill>
              </a:defRPr>
            </a:pPr>
            <a:r>
              <a:t>Gemini Embedding-2</a:t>
            </a:r>
          </a:p>
          <a:p>
            <a:pPr>
              <a:spcBef>
                <a:spcPts val="800"/>
              </a:spcBef>
              <a:defRPr sz="1100">
                <a:solidFill>
                  <a:srgbClr val="A0AEC0"/>
                </a:solidFill>
              </a:defRPr>
            </a:pPr>
            <a:r>
              <a:t>Document embedding model for RAG pipeline.</a:t>
            </a:r>
            <a:br/>
            <a:r>
              <a:t>Used via: GoogleGenerativeAIEmbeddings.</a:t>
            </a:r>
            <a:br/>
            <a:r>
              <a:t>Creates vector representations of chunks.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356616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44805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FACC15"/>
                </a:solidFill>
              </a:defRPr>
            </a:pPr>
            <a:r>
              <a:t>ChromaDB</a:t>
            </a:r>
          </a:p>
          <a:p>
            <a:pPr>
              <a:spcBef>
                <a:spcPts val="800"/>
              </a:spcBef>
              <a:defRPr sz="1100">
                <a:solidFill>
                  <a:srgbClr val="A0AEC0"/>
                </a:solidFill>
              </a:defRPr>
            </a:pPr>
            <a:r>
              <a:t>Persistent vector database for RAG retrieval.</a:t>
            </a:r>
            <a:br/>
            <a:r>
              <a:t>Features: MMR search, metadata filtering,</a:t>
            </a:r>
            <a:br/>
            <a:r>
              <a:t>similarity_search_with_score.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4480560"/>
            <a:ext cx="3566160" cy="457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44805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F87171"/>
                </a:solidFill>
              </a:defRPr>
            </a:pPr>
            <a:r>
              <a:t>Groq (Optional)</a:t>
            </a:r>
          </a:p>
          <a:p>
            <a:pPr>
              <a:spcBef>
                <a:spcPts val="800"/>
              </a:spcBef>
              <a:defRPr sz="1100">
                <a:solidFill>
                  <a:srgbClr val="A0AEC0"/>
                </a:solidFill>
              </a:defRPr>
            </a:pPr>
            <a:r>
              <a:t>Alternative LLM provider configured.</a:t>
            </a:r>
            <a:br/>
            <a:r>
              <a:t>langchain-groq integrated for fallback.</a:t>
            </a:r>
            <a:br/>
            <a:r>
              <a:t>Fast inference on open-source models.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480560"/>
            <a:ext cx="356616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MCP (Model Context Protocol)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Not used in this project - here's what we used instead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F87171"/>
                </a:solidFill>
                <a:latin typeface="Calibri"/>
              </a:defRPr>
            </a:pPr>
            <a:r>
              <a:t>MCP Was NOT Used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No MCP server configuration found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No external tool integration via MCP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Project uses direct LangChain/LangGraph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All tools are built-in agent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What We Used Instead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LangGraph nodes as specialized tools/agents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Pydantic structured output as tool schema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Direct Supabase client for DB operations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ChromaDB as the retrieval tool for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515600" cy="16459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800" b="1">
                <a:solidFill>
                  <a:srgbClr val="818CF8"/>
                </a:solidFill>
                <a:latin typeface="Calibri"/>
              </a:defRPr>
            </a:pPr>
            <a:r>
              <a:t>Future: MCP Could Enhance This Project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MCP server for external HR system integrations (SAP, Workday, BambooHR)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MCP tools for calendar booking (interview scheduling), email sending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MCP resources for real-time salary benchmarking data, job market analytics</a:t>
            </a:r>
          </a:p>
          <a:p>
            <a:pPr>
              <a:spcBef>
                <a:spcPts val="4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  Would enable the agentic system to interact with external services autonomously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Roadmap for continued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🔌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8BDF8"/>
                </a:solidFill>
              </a:defRPr>
            </a:pPr>
            <a:r>
              <a:t>MCP Integration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Connect to external HR</a:t>
            </a:r>
            <a:br/>
            <a:r>
              <a:t>tools (SAP, Workday)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210312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📊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818CF8"/>
                </a:solidFill>
              </a:defRPr>
            </a:pPr>
            <a:r>
              <a:t>Analytics Dashboard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Visual analytics for</a:t>
            </a:r>
            <a:br/>
            <a:r>
              <a:t>recruitment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🗣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4D399"/>
                </a:solidFill>
              </a:defRPr>
            </a:pPr>
            <a:r>
              <a:t>Voice Interface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Speech-to-text for</a:t>
            </a:r>
            <a:br/>
            <a:r>
              <a:t>hands-free HR queries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210312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📧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FB923C"/>
                </a:solidFill>
              </a:defRPr>
            </a:pPr>
            <a:r>
              <a:t>Email Integration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Send actual emails via</a:t>
            </a:r>
            <a:br/>
            <a:r>
              <a:t>SMTP/Gmail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8912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🔔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FACC15"/>
                </a:solidFill>
              </a:defRPr>
            </a:pPr>
            <a:r>
              <a:t>Notifications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Push alerts for leave</a:t>
            </a:r>
            <a:br/>
            <a:r>
              <a:t>approvals &amp; onboarding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438912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🧪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F87171"/>
                </a:solidFill>
              </a:defRPr>
            </a:pPr>
            <a:r>
              <a:t>A/B Testing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Compare LLM models</a:t>
            </a:r>
            <a:br/>
            <a:r>
              <a:t>for evaluation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8912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📱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8BDF8"/>
                </a:solidFill>
              </a:defRPr>
            </a:pPr>
            <a:r>
              <a:t>Mobile App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React Native or Flutter</a:t>
            </a:r>
            <a:br/>
            <a:r>
              <a:t>for mobile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438912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800"/>
            </a:pPr>
            <a:r>
              <a:t>🔄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818CF8"/>
                </a:solidFill>
              </a:defRPr>
            </a:pPr>
            <a:r>
              <a:t>CI/CD Pipeline</a:t>
            </a:r>
          </a:p>
          <a:p>
            <a:pPr algn="ctr"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Automated testing and</a:t>
            </a:r>
            <a:br/>
            <a:r>
              <a:t>deployment pipeline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Summary - By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4400" b="1">
                <a:solidFill>
                  <a:srgbClr val="38BDF8"/>
                </a:solidFill>
              </a:defRPr>
            </a:pPr>
            <a:r>
              <a:t>6</a:t>
            </a:r>
          </a:p>
          <a:p>
            <a:pPr algn="ctr"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Specialist</a:t>
            </a:r>
            <a:br/>
            <a:r>
              <a:t>AI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10312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4400" b="1">
                <a:solidFill>
                  <a:srgbClr val="818CF8"/>
                </a:solidFill>
              </a:defRPr>
            </a:pPr>
            <a:r>
              <a:t>7</a:t>
            </a:r>
          </a:p>
          <a:p>
            <a:pPr algn="ctr"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Intent</a:t>
            </a:r>
            <a:br/>
            <a:r>
              <a:t>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0312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4400" b="1">
                <a:solidFill>
                  <a:srgbClr val="34D399"/>
                </a:solidFill>
              </a:defRPr>
            </a:pPr>
            <a:r>
              <a:t>8+</a:t>
            </a:r>
          </a:p>
          <a:p>
            <a:pPr algn="ctr"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Supabase</a:t>
            </a:r>
            <a:br/>
            <a:r>
              <a:t>DB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10312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4400" b="1">
                <a:solidFill>
                  <a:srgbClr val="FB923C"/>
                </a:solidFill>
              </a:defRPr>
            </a:pPr>
            <a:r>
              <a:t>5</a:t>
            </a:r>
          </a:p>
          <a:p>
            <a:pPr algn="ctr"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Streamlit</a:t>
            </a:r>
            <a:br/>
            <a:r>
              <a:t>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4400" b="1">
                <a:solidFill>
                  <a:srgbClr val="FACC15"/>
                </a:solidFill>
              </a:defRPr>
            </a:pPr>
            <a:r>
              <a:t>3</a:t>
            </a:r>
          </a:p>
          <a:p>
            <a:pPr algn="ctr"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User Roles</a:t>
            </a:r>
            <a:br/>
            <a:r>
              <a:t>(RBAC)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438912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2</a:t>
            </a:r>
          </a:p>
          <a:p>
            <a:pPr algn="ctr"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LLM Providers</a:t>
            </a:r>
            <a:br/>
            <a:r>
              <a:t>Configured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38912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4400" b="1">
                <a:solidFill>
                  <a:srgbClr val="38BDF8"/>
                </a:solidFill>
              </a:defRPr>
            </a:pPr>
            <a:r>
              <a:t>20+</a:t>
            </a:r>
          </a:p>
          <a:p>
            <a:pPr algn="ctr"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Python</a:t>
            </a:r>
            <a:br/>
            <a:r>
              <a:t>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438912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4400" b="1">
                <a:solidFill>
                  <a:srgbClr val="818CF8"/>
                </a:solidFill>
              </a:defRPr>
            </a:pPr>
            <a:r>
              <a:t>1000+</a:t>
            </a:r>
          </a:p>
          <a:p>
            <a:pPr algn="ctr">
              <a:spcBef>
                <a:spcPts val="600"/>
              </a:spcBef>
              <a:defRPr sz="1400">
                <a:solidFill>
                  <a:srgbClr val="A0AEC0"/>
                </a:solidFill>
              </a:defRPr>
            </a:pPr>
            <a:r>
              <a:t>Lines of</a:t>
            </a:r>
            <a:br/>
            <a:r>
              <a:t>Agent Code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>
              <a:gd name="adj" fmla="val 6000"/>
            </a:avLst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9319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18CF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480560"/>
            <a:ext cx="3017520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t>Labi V Abraham  |  HR Agentic AI  | 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Calibri"/>
              </a:defRPr>
            </a:pPr>
            <a:r>
              <a:t>Built with LangGraph, Gemini AI, ChromaDB, Streamlit &amp; Supabase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